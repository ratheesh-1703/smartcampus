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23D"/>
          </a:solidFill>
          <a:ln>
            <a:solidFill>
              <a:srgbClr val="11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0430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4EAF3"/>
                </a:solidFill>
                <a:latin typeface="Aptos"/>
              </a:defRPr>
            </a:pPr>
            <a:r>
              <a:rPr lang="en-IN" sz="3200" b="1" dirty="0"/>
              <a:t>Smart Campus: An Integrated Web-Based Platform for Automated Academic, Administrative, and Student Services Management in Higher Education Institutions</a:t>
            </a:r>
            <a:endParaRPr sz="32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659473" y="4647188"/>
            <a:ext cx="1600200" cy="320040"/>
          </a:xfrm>
          <a:prstGeom prst="round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0B162A"/>
                </a:solidFill>
                <a:latin typeface="Aptos"/>
              </a:rPr>
              <a:t>Attendance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59" y="4647188"/>
            <a:ext cx="1325880" cy="320040"/>
          </a:xfrm>
          <a:prstGeom prst="roundRect">
            <a:avLst/>
          </a:prstGeom>
          <a:solidFill>
            <a:srgbClr val="3ABCC2"/>
          </a:solidFill>
          <a:ln>
            <a:solidFill>
              <a:srgbClr val="3A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Campus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41617" y="4645681"/>
            <a:ext cx="1463040" cy="320040"/>
          </a:xfrm>
          <a:prstGeom prst="roundRect">
            <a:avLst/>
          </a:prstGeom>
          <a:solidFill>
            <a:srgbClr val="F5F1E8"/>
          </a:solidFill>
          <a:ln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0B162A"/>
                </a:solidFill>
                <a:latin typeface="Aptos"/>
              </a:rPr>
              <a:t>Role-Based 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005840"/>
            <a:ext cx="4389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Conference focus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Unified platform replacing siloed attendance, safety, and office tools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PHP API layer with token-based access and role-scoped data retrieval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React frontend with role dashboards, Leaflet maps, and near-real-time polling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Attendance workflow includes QR + hotspot/network-prefix verification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SOS and live-location flows are wired for escalation and 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455664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77C"/>
                </a:solidFill>
                <a:latin typeface="Aptos"/>
              </a:rPr>
              <a:t>SmartCampus conference deck | generated from repository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Why SmartCampus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3E1"/>
                </a:solidFill>
                <a:latin typeface="Aptos"/>
              </a:rPr>
              <a:t>The platform addresses fragmented campus operations and weak cross-module accountability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127000" rIns="152400" rtlCol="0" anchor="ctr"/>
          <a:lstStyle/>
          <a:p>
            <a:pPr algn="ctr"/>
            <a:r>
              <a:rPr sz="1800" b="1">
                <a:solidFill>
                  <a:srgbClr val="0B162A"/>
                </a:solidFill>
                <a:latin typeface="Aptos Display"/>
              </a:rPr>
              <a:t>Data silos</a:t>
            </a:r>
          </a:p>
          <a:p>
            <a:pPr>
              <a:defRPr sz="1250" b="0">
                <a:solidFill>
                  <a:srgbClr val="14181F"/>
                </a:solidFill>
                <a:latin typeface="Aptos"/>
              </a:defRPr>
            </a:pPr>
            <a:r>
              <a:t>Separate tools for attendance, finance, safety, and records duplicate effort and fragment truth.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37160" cy="1234440"/>
          </a:xfrm>
          <a:prstGeom prst="rect">
            <a:avLst/>
          </a:prstGeom>
          <a:solidFill>
            <a:srgbClr val="C24848"/>
          </a:solidFill>
          <a:ln>
            <a:solidFill>
              <a:srgbClr val="C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127000" rIns="152400" rtlCol="0" anchor="ctr"/>
          <a:lstStyle/>
          <a:p>
            <a:pPr algn="ctr"/>
            <a:r>
              <a:rPr sz="1800" b="1">
                <a:solidFill>
                  <a:srgbClr val="0B162A"/>
                </a:solidFill>
                <a:latin typeface="Aptos Display"/>
              </a:rPr>
              <a:t>Operational delay</a:t>
            </a:r>
          </a:p>
          <a:p>
            <a:pPr>
              <a:defRPr sz="1250" b="0">
                <a:solidFill>
                  <a:srgbClr val="14181F"/>
                </a:solidFill>
                <a:latin typeface="Aptos"/>
              </a:defRPr>
            </a:pPr>
            <a:r>
              <a:t>Manual reconciliation slows attendance closure, notifications, and incident handling.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37160" cy="1234440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26517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127000" rIns="152400" rtlCol="0" anchor="ctr"/>
          <a:lstStyle/>
          <a:p>
            <a:pPr algn="ctr"/>
            <a:r>
              <a:rPr sz="1800" b="1">
                <a:solidFill>
                  <a:srgbClr val="0B162A"/>
                </a:solidFill>
                <a:latin typeface="Aptos Display"/>
              </a:rPr>
              <a:t>Safety gaps</a:t>
            </a:r>
          </a:p>
          <a:p>
            <a:pPr>
              <a:defRPr sz="1250" b="0">
                <a:solidFill>
                  <a:srgbClr val="14181F"/>
                </a:solidFill>
                <a:latin typeface="Aptos"/>
              </a:defRPr>
            </a:pPr>
            <a:r>
              <a:t>No single workflow for SOS, live location, and escalation across roles.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137160" cy="1234440"/>
          </a:xfrm>
          <a:prstGeom prst="rect">
            <a:avLst/>
          </a:prstGeom>
          <a:solidFill>
            <a:srgbClr val="3ABCC2"/>
          </a:solidFill>
          <a:ln>
            <a:solidFill>
              <a:srgbClr val="3A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127000" rIns="152400" rtlCol="0" anchor="ctr"/>
          <a:lstStyle/>
          <a:p>
            <a:pPr algn="ctr"/>
            <a:r>
              <a:rPr sz="1800" b="1">
                <a:solidFill>
                  <a:srgbClr val="0B162A"/>
                </a:solidFill>
                <a:latin typeface="Aptos Display"/>
              </a:rPr>
              <a:t>Inconsistent access</a:t>
            </a:r>
          </a:p>
          <a:p>
            <a:pPr>
              <a:defRPr sz="1250" b="0">
                <a:solidFill>
                  <a:srgbClr val="14181F"/>
                </a:solidFill>
                <a:latin typeface="Aptos"/>
              </a:defRPr>
            </a:pPr>
            <a:r>
              <a:t>Responsibilities differ by role, but many systems do not enforce that boundary cleanly.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51760"/>
            <a:ext cx="137160" cy="1234440"/>
          </a:xfrm>
          <a:prstGeom prst="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4434840"/>
            <a:ext cx="5486400" cy="1371600"/>
          </a:xfrm>
          <a:prstGeom prst="roundRect">
            <a:avLst/>
          </a:prstGeom>
          <a:solidFill>
            <a:srgbClr val="ECF1F7"/>
          </a:solidFill>
          <a:ln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Core response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One frontend, one backend, one data model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Role-aware routing and backend authorization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Integrity controls where the workflow is security-sensitive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434840"/>
            <a:ext cx="5303520" cy="1371600"/>
          </a:xfrm>
          <a:prstGeom prst="roundRect">
            <a:avLst/>
          </a:prstGeom>
          <a:solidFill>
            <a:srgbClr val="ECF1F7"/>
          </a:solidFill>
          <a:ln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Result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Less duplication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Faster handoff between academic and admin teams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Clear audit trail for attendance and safety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6455664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77C"/>
                </a:solidFill>
                <a:latin typeface="Aptos"/>
              </a:rPr>
              <a:t>SmartCampus conference deck |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3E1"/>
                </a:solidFill>
                <a:latin typeface="Aptos"/>
              </a:rPr>
              <a:t>React frontend, PHP service layer, and MySQL data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4572000" cy="960120"/>
          </a:xfrm>
          <a:prstGeom prst="roundRect">
            <a:avLst/>
          </a:prstGeom>
          <a:solidFill>
            <a:srgbClr val="ECF1F7"/>
          </a:solidFill>
          <a:ln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362456"/>
            <a:ext cx="1463040" cy="320040"/>
          </a:xfrm>
          <a:prstGeom prst="roundRect">
            <a:avLst/>
          </a:prstGeom>
          <a:solidFill>
            <a:srgbClr val="3ABCC2"/>
          </a:solidFill>
          <a:ln>
            <a:solidFill>
              <a:srgbClr val="3A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React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1298448"/>
            <a:ext cx="27432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14181F"/>
                </a:solidFill>
                <a:latin typeface="Aptos"/>
              </a:defRPr>
            </a:pPr>
            <a:r>
              <a:t>Role-based dashboards</a:t>
            </a:r>
            <a:br/>
            <a:r>
              <a:t>Vite + React Router</a:t>
            </a:r>
            <a:br/>
            <a:r>
              <a:t>Bootstrap, Leaflet, Chart.js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06039"/>
            <a:ext cx="4572000" cy="960120"/>
          </a:xfrm>
          <a:prstGeom prst="roundRect">
            <a:avLst/>
          </a:prstGeom>
          <a:solidFill>
            <a:srgbClr val="ECF1F7"/>
          </a:solidFill>
          <a:ln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2688336"/>
            <a:ext cx="1463040" cy="320040"/>
          </a:xfrm>
          <a:prstGeom prst="round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PHP API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624328"/>
            <a:ext cx="27432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14181F"/>
                </a:solidFill>
                <a:latin typeface="Aptos"/>
              </a:defRPr>
            </a:pPr>
            <a:r>
              <a:t>Modular endpoints</a:t>
            </a:r>
            <a:br/>
            <a:r>
              <a:t>Auth, validation, CORS, security headers</a:t>
            </a:r>
            <a:br/>
            <a:r>
              <a:t>Bearer token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4572000" cy="960120"/>
          </a:xfrm>
          <a:prstGeom prst="roundRect">
            <a:avLst/>
          </a:prstGeom>
          <a:solidFill>
            <a:srgbClr val="ECF1F7"/>
          </a:solidFill>
          <a:ln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4014215"/>
            <a:ext cx="1463040" cy="320040"/>
          </a:xfrm>
          <a:prstGeom prst="round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62A"/>
                </a:solidFill>
                <a:latin typeface="Aptos"/>
              </a:rPr>
              <a:t>MySQL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3950208"/>
            <a:ext cx="27432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14181F"/>
                </a:solidFill>
                <a:latin typeface="Aptos"/>
              </a:defRPr>
            </a:pPr>
            <a:r>
              <a:rPr dirty="0"/>
              <a:t>Users, sessions, attendance, SOS, live locations</a:t>
            </a:r>
            <a:br>
              <a:rPr dirty="0"/>
            </a:br>
            <a:r>
              <a:rPr dirty="0"/>
              <a:t>Institutional module tables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1783080"/>
            <a:ext cx="960120" cy="0"/>
          </a:xfrm>
          <a:prstGeom prst="line">
            <a:avLst/>
          </a:prstGeom>
          <a:ln w="2794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77840" y="3063240"/>
            <a:ext cx="960120" cy="0"/>
          </a:xfrm>
          <a:prstGeom prst="line">
            <a:avLst/>
          </a:prstGeom>
          <a:ln w="2794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4389120"/>
            <a:ext cx="960120" cy="0"/>
          </a:xfrm>
          <a:prstGeom prst="line">
            <a:avLst/>
          </a:prstGeom>
          <a:ln w="2794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75120" y="1143000"/>
            <a:ext cx="5029200" cy="4160520"/>
          </a:xfrm>
          <a:prstGeom prst="round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52400" rIns="1524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Request lifecycle</a:t>
            </a:r>
          </a:p>
          <a:p>
            <a:pPr>
              <a:defRPr sz="1300" b="0">
                <a:solidFill>
                  <a:srgbClr val="ECF0F7"/>
                </a:solidFill>
                <a:latin typeface="Aptos"/>
              </a:defRPr>
            </a:pPr>
            <a:r>
              <a:t>1. User logs in and receives a bearer token</a:t>
            </a:r>
          </a:p>
          <a:p>
            <a:pPr>
              <a:defRPr sz="1300" b="0">
                <a:solidFill>
                  <a:srgbClr val="ECF0F7"/>
                </a:solidFill>
                <a:latin typeface="Aptos"/>
              </a:defRPr>
            </a:pPr>
            <a:r>
              <a:t>2. Frontend attaches Authorization header automatically</a:t>
            </a:r>
          </a:p>
          <a:p>
            <a:pPr>
              <a:defRPr sz="1300" b="0">
                <a:solidFill>
                  <a:srgbClr val="ECF0F7"/>
                </a:solidFill>
                <a:latin typeface="Aptos"/>
              </a:defRPr>
            </a:pPr>
            <a:r>
              <a:t>3. Backend validates token, role, and scope</a:t>
            </a:r>
          </a:p>
          <a:p>
            <a:pPr>
              <a:defRPr sz="1300" b="0">
                <a:solidFill>
                  <a:srgbClr val="ECF0F7"/>
                </a:solidFill>
                <a:latin typeface="Aptos"/>
              </a:defRPr>
            </a:pPr>
            <a:r>
              <a:t>4. Endpoint executes domain logic and returns JSON</a:t>
            </a:r>
          </a:p>
          <a:p>
            <a:pPr>
              <a:defRPr sz="1300" b="0">
                <a:solidFill>
                  <a:srgbClr val="ECF0F7"/>
                </a:solidFill>
                <a:latin typeface="Aptos"/>
              </a:defRPr>
            </a:pPr>
            <a:r>
              <a:t>5. Role-specific dashboard renders the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5440680"/>
            <a:ext cx="5029200" cy="640080"/>
          </a:xfrm>
          <a:prstGeom prst="roundRect">
            <a:avLst/>
          </a:prstGeom>
          <a:solidFill>
            <a:srgbClr val="F5F1E8"/>
          </a:solidFill>
          <a:ln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Evidence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React/Vite frontend, PHP backend, MySQL schema, and bearer-token auth are documented across the repo.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6455664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77C"/>
                </a:solidFill>
                <a:latin typeface="Aptos"/>
              </a:rPr>
              <a:t>SmartCampus conference deck |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Modules and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3E1"/>
                </a:solidFill>
                <a:latin typeface="Aptos"/>
              </a:rPr>
              <a:t>A single platform spans academic, operational, and service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53035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52400" rIns="1524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Major modules</a:t>
            </a:r>
          </a:p>
          <a:p>
            <a:pPr>
              <a:defRPr sz="1350" b="0">
                <a:solidFill>
                  <a:srgbClr val="14181F"/>
                </a:solidFill>
                <a:latin typeface="Aptos"/>
              </a:defRPr>
            </a:pPr>
            <a:r>
              <a:t>Academics: student/teacher management, timetables, marks, subject assignment</a:t>
            </a:r>
          </a:p>
          <a:p>
            <a:pPr>
              <a:defRPr sz="1350" b="0">
                <a:solidFill>
                  <a:srgbClr val="14181F"/>
                </a:solidFill>
                <a:latin typeface="Aptos"/>
              </a:defRPr>
            </a:pPr>
            <a:r>
              <a:t>Attendance: session creation, marking, validation, rejection logs</a:t>
            </a:r>
          </a:p>
          <a:p>
            <a:pPr>
              <a:defRPr sz="1350" b="0">
                <a:solidFill>
                  <a:srgbClr val="14181F"/>
                </a:solidFill>
                <a:latin typeface="Aptos"/>
              </a:defRPr>
            </a:pPr>
            <a:r>
              <a:t>Safety: SOS reporting, live location, escalation intelligence</a:t>
            </a:r>
          </a:p>
          <a:p>
            <a:pPr>
              <a:defRPr sz="1350" b="0">
                <a:solidFill>
                  <a:srgbClr val="14181F"/>
                </a:solidFill>
                <a:latin typeface="Aptos"/>
              </a:defRPr>
            </a:pPr>
            <a:r>
              <a:t>Registrar: records, certificates, admissions workflows</a:t>
            </a:r>
          </a:p>
          <a:p>
            <a:pPr>
              <a:defRPr sz="1350" b="0">
                <a:solidFill>
                  <a:srgbClr val="14181F"/>
                </a:solidFill>
                <a:latin typeface="Aptos"/>
              </a:defRPr>
            </a:pPr>
            <a:r>
              <a:t>Finance: fees, payments, budgets, cost centers</a:t>
            </a:r>
          </a:p>
          <a:p>
            <a:pPr>
              <a:defRPr sz="1350" b="0">
                <a:solidFill>
                  <a:srgbClr val="14181F"/>
                </a:solidFill>
                <a:latin typeface="Aptos"/>
              </a:defRPr>
            </a:pPr>
            <a:r>
              <a:t>Exam, placement, hostel, library, dean, affairs, parent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43000"/>
            <a:ext cx="5486400" cy="4892040"/>
          </a:xfrm>
          <a:prstGeom prst="round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52400" rIns="1524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Role coverage</a:t>
            </a:r>
          </a:p>
          <a:p>
            <a:pPr>
              <a:defRPr sz="1350" b="0">
                <a:solidFill>
                  <a:srgbClr val="ECF0F7"/>
                </a:solidFill>
                <a:latin typeface="Aptos"/>
              </a:defRPr>
            </a:pPr>
            <a:r>
              <a:t>Admin and affairs: global oversight and incident visibility</a:t>
            </a:r>
          </a:p>
          <a:p>
            <a:pPr>
              <a:defRPr sz="1350" b="0">
                <a:solidFill>
                  <a:srgbClr val="ECF0F7"/>
                </a:solidFill>
                <a:latin typeface="Aptos"/>
              </a:defRPr>
            </a:pPr>
            <a:r>
              <a:t>Teacher, HOD, coordinator: scoped academic and attendance actions</a:t>
            </a:r>
          </a:p>
          <a:p>
            <a:pPr>
              <a:defRPr sz="1350" b="0">
                <a:solidFill>
                  <a:srgbClr val="ECF0F7"/>
                </a:solidFill>
                <a:latin typeface="Aptos"/>
              </a:defRPr>
            </a:pPr>
            <a:r>
              <a:t>Student and parent: self-service access and notifications</a:t>
            </a:r>
          </a:p>
          <a:p>
            <a:pPr>
              <a:defRPr sz="1350" b="0">
                <a:solidFill>
                  <a:srgbClr val="ECF0F7"/>
                </a:solidFill>
                <a:latin typeface="Aptos"/>
              </a:defRPr>
            </a:pPr>
            <a:r>
              <a:t>Accountant, registrar, exam controller: office workflows</a:t>
            </a:r>
          </a:p>
          <a:p>
            <a:pPr>
              <a:defRPr sz="1350" b="0">
                <a:solidFill>
                  <a:srgbClr val="ECF0F7"/>
                </a:solidFill>
                <a:latin typeface="Aptos"/>
              </a:defRPr>
            </a:pPr>
            <a:r>
              <a:t>Placement, hostel warden, librarian, dean: role-specific dashboards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5486400"/>
            <a:ext cx="8321040" cy="548640"/>
          </a:xfrm>
          <a:prstGeom prst="roundRect">
            <a:avLst/>
          </a:prstGeom>
          <a:solidFill>
            <a:srgbClr val="F5F1E8"/>
          </a:solidFill>
          <a:ln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62A"/>
                </a:solidFill>
                <a:latin typeface="Aptos Display"/>
              </a:rPr>
              <a:t>The platform is designed around role boundaries, not just features.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455664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77C"/>
                </a:solidFill>
                <a:latin typeface="Aptos"/>
              </a:rPr>
              <a:t>SmartCampus conference deck | modules and roles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Attendance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3E1"/>
                </a:solidFill>
                <a:latin typeface="Aptos"/>
              </a:rPr>
              <a:t>A multi-layer verification pipeline blocks proxy attendance and records rejections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28800"/>
            <a:ext cx="1463040" cy="1463040"/>
          </a:xfrm>
          <a:prstGeom prst="ellipse">
            <a:avLst/>
          </a:prstGeom>
          <a:solidFill>
            <a:srgbClr val="3ABCC2"/>
          </a:solidFill>
          <a:ln>
            <a:solidFill>
              <a:srgbClr val="3A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24164"/>
            <a:ext cx="2132315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 dirty="0">
                <a:solidFill>
                  <a:srgbClr val="0B162A"/>
                </a:solidFill>
                <a:latin typeface="Aptos Display"/>
              </a:rPr>
              <a:t>Teacher starts</a:t>
            </a:r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Session context, class, period,</a:t>
            </a:r>
            <a:endParaRPr lang="en-IN" dirty="0"/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 network prefix, QR token</a:t>
            </a:r>
          </a:p>
        </p:txBody>
      </p:sp>
      <p:sp>
        <p:nvSpPr>
          <p:cNvPr id="8" name="Oval 7"/>
          <p:cNvSpPr/>
          <p:nvPr/>
        </p:nvSpPr>
        <p:spPr>
          <a:xfrm>
            <a:off x="2240280" y="1828800"/>
            <a:ext cx="1463040" cy="1463040"/>
          </a:xfrm>
          <a:prstGeom prst="ellipse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2252" y="3420108"/>
            <a:ext cx="1628972" cy="8463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 dirty="0">
                <a:solidFill>
                  <a:srgbClr val="0B162A"/>
                </a:solidFill>
                <a:latin typeface="Aptos Display"/>
              </a:rPr>
              <a:t>Student joins</a:t>
            </a:r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Available sessions are </a:t>
            </a:r>
            <a:endParaRPr lang="en-IN" dirty="0"/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filtered by class</a:t>
            </a:r>
            <a:endParaRPr lang="en-IN" dirty="0"/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 membership</a:t>
            </a:r>
          </a:p>
        </p:txBody>
      </p:sp>
      <p:sp>
        <p:nvSpPr>
          <p:cNvPr id="10" name="Oval 9"/>
          <p:cNvSpPr/>
          <p:nvPr/>
        </p:nvSpPr>
        <p:spPr>
          <a:xfrm>
            <a:off x="3977639" y="1828800"/>
            <a:ext cx="1463040" cy="1463040"/>
          </a:xfrm>
          <a:prstGeom prst="ellipse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414332"/>
            <a:ext cx="2114682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 dirty="0">
                <a:solidFill>
                  <a:srgbClr val="0B162A"/>
                </a:solidFill>
                <a:latin typeface="Aptos Display"/>
              </a:rPr>
              <a:t>Token check</a:t>
            </a:r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Bearer token, active session,</a:t>
            </a:r>
            <a:endParaRPr lang="en-IN" dirty="0"/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 and student role are validated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0" y="1828800"/>
            <a:ext cx="1463040" cy="1463040"/>
          </a:xfrm>
          <a:prstGeom prst="ellipse">
            <a:avLst/>
          </a:prstGeom>
          <a:solidFill>
            <a:srgbClr val="C24848"/>
          </a:solidFill>
          <a:ln>
            <a:solidFill>
              <a:srgbClr val="C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7441" y="3424164"/>
            <a:ext cx="1238159" cy="10233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 dirty="0">
                <a:solidFill>
                  <a:srgbClr val="0B162A"/>
                </a:solidFill>
                <a:latin typeface="Aptos Display"/>
              </a:rPr>
              <a:t>Network gate</a:t>
            </a:r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Gateway prefix </a:t>
            </a:r>
            <a:endParaRPr lang="en-IN" dirty="0"/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comparison </a:t>
            </a:r>
            <a:endParaRPr lang="en-IN" dirty="0"/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detects hotspot </a:t>
            </a:r>
            <a:endParaRPr lang="en-IN" dirty="0"/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mismatch</a:t>
            </a:r>
          </a:p>
        </p:txBody>
      </p:sp>
      <p:sp>
        <p:nvSpPr>
          <p:cNvPr id="14" name="Oval 13"/>
          <p:cNvSpPr/>
          <p:nvPr/>
        </p:nvSpPr>
        <p:spPr>
          <a:xfrm>
            <a:off x="7452360" y="1828800"/>
            <a:ext cx="1463040" cy="1463040"/>
          </a:xfrm>
          <a:prstGeom prst="ellipse">
            <a:avLst/>
          </a:prstGeom>
          <a:solidFill>
            <a:srgbClr val="3A8B5C"/>
          </a:solidFill>
          <a:ln>
            <a:solidFill>
              <a:srgbClr val="3A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7379" y="3474720"/>
            <a:ext cx="2073003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 dirty="0">
                <a:solidFill>
                  <a:srgbClr val="0B162A"/>
                </a:solidFill>
                <a:latin typeface="Aptos Display"/>
              </a:rPr>
              <a:t>Write audit</a:t>
            </a:r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Success inserts attendance; </a:t>
            </a:r>
            <a:endParaRPr lang="en-IN" dirty="0"/>
          </a:p>
          <a:p>
            <a:pPr algn="ctr">
              <a:defRPr sz="1150" b="0">
                <a:solidFill>
                  <a:srgbClr val="14181F"/>
                </a:solidFill>
                <a:latin typeface="Aptos"/>
              </a:defRPr>
            </a:pPr>
            <a:r>
              <a:rPr dirty="0"/>
              <a:t>failure writes rejection reason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65960" y="2560320"/>
            <a:ext cx="274320" cy="0"/>
          </a:xfrm>
          <a:prstGeom prst="line">
            <a:avLst/>
          </a:prstGeom>
          <a:ln w="2540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03320" y="2560320"/>
            <a:ext cx="274319" cy="0"/>
          </a:xfrm>
          <a:prstGeom prst="line">
            <a:avLst/>
          </a:prstGeom>
          <a:ln w="2540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40679" y="2560320"/>
            <a:ext cx="274321" cy="0"/>
          </a:xfrm>
          <a:prstGeom prst="line">
            <a:avLst/>
          </a:prstGeom>
          <a:ln w="2540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78040" y="2560320"/>
            <a:ext cx="274320" cy="0"/>
          </a:xfrm>
          <a:prstGeom prst="line">
            <a:avLst/>
          </a:prstGeom>
          <a:ln w="25400">
            <a:solidFill>
              <a:srgbClr val="5B6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4754880"/>
            <a:ext cx="5303520" cy="1280160"/>
          </a:xfrm>
          <a:prstGeom prst="roundRect">
            <a:avLst/>
          </a:prstGeom>
          <a:solidFill>
            <a:srgbClr val="ECF1F7"/>
          </a:solidFill>
          <a:ln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Verification layers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QR token match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Network prefix check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Duplicate attendance prevention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Rejection log for suspicious attempts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754880"/>
            <a:ext cx="5394960" cy="1280160"/>
          </a:xfrm>
          <a:prstGeom prst="roundRect">
            <a:avLst/>
          </a:prstGeom>
          <a:solidFill>
            <a:srgbClr val="F5F1E8"/>
          </a:solidFill>
          <a:ln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Conference takeaway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Attendance is not just recorded; it is verified, scoped, and audited.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6455664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77C"/>
                </a:solidFill>
                <a:latin typeface="Aptos"/>
              </a:rPr>
              <a:t>SmartCampus conference deck | attendance integrity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Safety, SOS, and Live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3E1"/>
                </a:solidFill>
                <a:latin typeface="Aptos"/>
              </a:rPr>
              <a:t>Emergency reporting is paired with real-time movement monitoring and scoped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49377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52400" rIns="1524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SOS workflow</a:t>
            </a:r>
          </a:p>
          <a:p>
            <a:pPr>
              <a:defRPr sz="1320" b="0">
                <a:solidFill>
                  <a:srgbClr val="14181F"/>
                </a:solidFill>
                <a:latin typeface="Aptos"/>
              </a:defRPr>
            </a:pPr>
            <a:r>
              <a:t>Student submits an emergency message and optional photo</a:t>
            </a:r>
          </a:p>
          <a:p>
            <a:pPr>
              <a:defRPr sz="1320" b="0">
                <a:solidFill>
                  <a:srgbClr val="14181F"/>
                </a:solidFill>
                <a:latin typeface="Aptos"/>
              </a:defRPr>
            </a:pPr>
            <a:r>
              <a:t>Backend resolves identity from the authenticated account</a:t>
            </a:r>
          </a:p>
          <a:p>
            <a:pPr>
              <a:defRPr sz="1320" b="0">
                <a:solidFill>
                  <a:srgbClr val="14181F"/>
                </a:solidFill>
                <a:latin typeface="Aptos"/>
              </a:defRPr>
            </a:pPr>
            <a:r>
              <a:t>Role-scoped retrieval shows only what each authority should see</a:t>
            </a:r>
          </a:p>
          <a:p>
            <a:pPr>
              <a:defRPr sz="1320" b="0">
                <a:solidFill>
                  <a:srgbClr val="14181F"/>
                </a:solidFill>
                <a:latin typeface="Aptos"/>
              </a:defRPr>
            </a:pPr>
            <a:r>
              <a:t>Safety intelligence adds context, severity, and escalation targeting</a:t>
            </a:r>
          </a:p>
          <a:p>
            <a:pPr>
              <a:defRPr sz="1320" b="0">
                <a:solidFill>
                  <a:srgbClr val="14181F"/>
                </a:solidFill>
                <a:latin typeface="Aptos"/>
              </a:defRPr>
            </a:pPr>
            <a:r>
              <a:t>Incident history becomes searchable and auditable</a:t>
            </a:r>
          </a:p>
        </p:txBody>
      </p:sp>
      <p:pic>
        <p:nvPicPr>
          <p:cNvPr id="7" name="Picture 6" descr="kalasalingam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43000"/>
            <a:ext cx="576072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06440" y="4526280"/>
            <a:ext cx="5760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Live location monitoring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Coordinates are updated in the backend and displayed on a Leaflet-based map.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Role filters keep admin, HOD, coordinator, and teacher views scoped appropriately.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455664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77C"/>
                </a:solidFill>
                <a:latin typeface="Aptos"/>
              </a:rPr>
              <a:t>SmartCampus conference deck | safety and location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Security and Production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3E1"/>
                </a:solidFill>
                <a:latin typeface="Aptos"/>
              </a:rPr>
              <a:t>The backend has a clear security posture, not just feature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166360" cy="4709160"/>
          </a:xfrm>
          <a:prstGeom prst="round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52400" rIns="1524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Implemented controls</a:t>
            </a:r>
          </a:p>
          <a:p>
            <a:pPr>
              <a:defRPr sz="1320" b="0">
                <a:solidFill>
                  <a:srgbClr val="EEF2F7"/>
                </a:solidFill>
                <a:latin typeface="Aptos"/>
              </a:defRPr>
            </a:pPr>
            <a:r>
              <a:t>Prepared statements via DB helper</a:t>
            </a:r>
          </a:p>
          <a:p>
            <a:pPr>
              <a:defRPr sz="1320" b="0">
                <a:solidFill>
                  <a:srgbClr val="EEF2F7"/>
                </a:solidFill>
                <a:latin typeface="Aptos"/>
              </a:defRPr>
            </a:pPr>
            <a:r>
              <a:t>Input validation and sanitization</a:t>
            </a:r>
          </a:p>
          <a:p>
            <a:pPr>
              <a:defRPr sz="1320" b="0">
                <a:solidFill>
                  <a:srgbClr val="EEF2F7"/>
                </a:solidFill>
                <a:latin typeface="Aptos"/>
              </a:defRPr>
            </a:pPr>
            <a:r>
              <a:t>Bearer-token authentication</a:t>
            </a:r>
          </a:p>
          <a:p>
            <a:pPr>
              <a:defRPr sz="1320" b="0">
                <a:solidFill>
                  <a:srgbClr val="EEF2F7"/>
                </a:solidFill>
                <a:latin typeface="Aptos"/>
              </a:defRPr>
            </a:pPr>
            <a:r>
              <a:t>CORS, security headers, and rate limiting</a:t>
            </a:r>
          </a:p>
          <a:p>
            <a:pPr>
              <a:defRPr sz="1320" b="0">
                <a:solidFill>
                  <a:srgbClr val="EEF2F7"/>
                </a:solidFill>
                <a:latin typeface="Aptos"/>
              </a:defRPr>
            </a:pPr>
            <a:r>
              <a:t>bcrypt password hashing and generic errors</a:t>
            </a:r>
          </a:p>
          <a:p>
            <a:pPr>
              <a:defRPr sz="1320" b="0">
                <a:solidFill>
                  <a:srgbClr val="EEF2F7"/>
                </a:solidFill>
                <a:latin typeface="Aptos"/>
              </a:defRPr>
            </a:pPr>
            <a:r>
              <a:t>Web-server hardening and restricted file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40"/>
            <a:ext cx="5486400" cy="2057400"/>
          </a:xfrm>
          <a:prstGeom prst="roundRect">
            <a:avLst/>
          </a:prstGeom>
          <a:solidFill>
            <a:srgbClr val="ECF1F7"/>
          </a:solidFill>
          <a:ln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Production-readiness signals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Documentation covers environment setup, deployment, and security checks.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Netlify deployment is defined for the frontend with a separate PHP backend.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The repo includes a pre-production security checklist and operational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3520440"/>
            <a:ext cx="5486400" cy="2423160"/>
          </a:xfrm>
          <a:prstGeom prst="roundRect">
            <a:avLst/>
          </a:prstGeom>
          <a:solidFill>
            <a:srgbClr val="F5F1E8"/>
          </a:solidFill>
          <a:ln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Notable follow-up areas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Broader prepared-statement adoption is still a consistency task across all endpoints.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Some frontend pages still have lint issues to clean up before stricter release gates.</a:t>
            </a:r>
          </a:p>
          <a:p>
            <a:pPr>
              <a:defRPr sz="1400" b="0">
                <a:solidFill>
                  <a:srgbClr val="14181F"/>
                </a:solidFill>
                <a:latin typeface="Aptos"/>
              </a:defRPr>
            </a:pPr>
            <a:r>
              <a:t>Bundle size suggests further code-splitting opportunity.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455664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77C"/>
                </a:solidFill>
                <a:latin typeface="Aptos"/>
              </a:rPr>
              <a:t>SmartCampus conference deck | security posture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Deployment and Maturity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448056"/>
            <a:ext cx="7863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D3E1"/>
                </a:solidFill>
                <a:latin typeface="Aptos"/>
              </a:rPr>
              <a:t>The system already has a credible path to production and demonstration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5577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52400" rIns="152400" rtlCol="0" anchor="ctr"/>
          <a:lstStyle/>
          <a:p>
            <a:pPr algn="ctr"/>
            <a:r>
              <a:rPr sz="2000" b="1">
                <a:solidFill>
                  <a:srgbClr val="0B162A"/>
                </a:solidFill>
                <a:latin typeface="Aptos Display"/>
              </a:rPr>
              <a:t>Deployment model</a:t>
            </a:r>
          </a:p>
          <a:p>
            <a:pPr>
              <a:defRPr sz="1320" b="0">
                <a:solidFill>
                  <a:srgbClr val="14181F"/>
                </a:solidFill>
                <a:latin typeface="Aptos"/>
              </a:defRPr>
            </a:pPr>
            <a:r>
              <a:t>Frontend: Netlify static hosting from the Vite build</a:t>
            </a:r>
          </a:p>
          <a:p>
            <a:pPr>
              <a:defRPr sz="1320" b="0">
                <a:solidFill>
                  <a:srgbClr val="14181F"/>
                </a:solidFill>
                <a:latin typeface="Aptos"/>
              </a:defRPr>
            </a:pPr>
            <a:r>
              <a:t>Backend: PHP app on shared hosting, VPS, or managed PHP runtime</a:t>
            </a:r>
          </a:p>
          <a:p>
            <a:pPr>
              <a:defRPr sz="1320" b="0">
                <a:solidFill>
                  <a:srgbClr val="14181F"/>
                </a:solidFill>
                <a:latin typeface="Aptos"/>
              </a:defRPr>
            </a:pPr>
            <a:r>
              <a:t>Database: MySQL schema named smartcampus</a:t>
            </a:r>
          </a:p>
          <a:p>
            <a:pPr>
              <a:defRPr sz="1320" b="0">
                <a:solidFill>
                  <a:srgbClr val="14181F"/>
                </a:solidFill>
                <a:latin typeface="Aptos"/>
              </a:defRPr>
            </a:pPr>
            <a:r>
              <a:t>Auth and API traffic: HTTPS + bearer tokens + environment variables</a:t>
            </a:r>
          </a:p>
          <a:p>
            <a:pPr>
              <a:defRPr sz="1320" b="0">
                <a:solidFill>
                  <a:srgbClr val="14181F"/>
                </a:solidFill>
                <a:latin typeface="Aptos"/>
              </a:defRPr>
            </a:pPr>
            <a:r>
              <a:t>The repository includes deployment notes and integration guides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188720"/>
            <a:ext cx="5257800" cy="4526280"/>
          </a:xfrm>
          <a:prstGeom prst="roundRect">
            <a:avLst/>
          </a:prstGeom>
          <a:solidFill>
            <a:srgbClr val="0B162A"/>
          </a:solidFill>
          <a:ln>
            <a:solidFill>
              <a:srgbClr val="0B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52400" rIns="1524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Why this is conference-ready</a:t>
            </a:r>
          </a:p>
          <a:p>
            <a:pPr>
              <a:defRPr sz="1320" b="0">
                <a:solidFill>
                  <a:srgbClr val="ECF0F7"/>
                </a:solidFill>
                <a:latin typeface="Aptos"/>
              </a:defRPr>
            </a:pPr>
            <a:r>
              <a:t>Clear narrative: one platform, multiple roles, one operational view</a:t>
            </a:r>
          </a:p>
          <a:p>
            <a:pPr>
              <a:defRPr sz="1320" b="0">
                <a:solidFill>
                  <a:srgbClr val="ECF0F7"/>
                </a:solidFill>
                <a:latin typeface="Aptos"/>
              </a:defRPr>
            </a:pPr>
            <a:r>
              <a:t>Demonstrable deep work: security, attendance integrity, and safety workflows</a:t>
            </a:r>
          </a:p>
          <a:p>
            <a:pPr>
              <a:defRPr sz="1320" b="0">
                <a:solidFill>
                  <a:srgbClr val="ECF0F7"/>
                </a:solidFill>
                <a:latin typeface="Aptos"/>
              </a:defRPr>
            </a:pPr>
            <a:r>
              <a:t>Practical deployment story: static frontend + modular PHP backend</a:t>
            </a:r>
          </a:p>
          <a:p>
            <a:pPr>
              <a:defRPr sz="1320" b="0">
                <a:solidFill>
                  <a:srgbClr val="ECF0F7"/>
                </a:solidFill>
                <a:latin typeface="Aptos"/>
              </a:defRPr>
            </a:pPr>
            <a:r>
              <a:t>Extensible architecture for future services and policy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806440"/>
            <a:ext cx="8503920" cy="411480"/>
          </a:xfrm>
          <a:prstGeom prst="roundRect">
            <a:avLst/>
          </a:prstGeom>
          <a:solidFill>
            <a:srgbClr val="F5F1E8"/>
          </a:solidFill>
          <a:ln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62A"/>
                </a:solidFill>
                <a:latin typeface="Aptos"/>
              </a:rPr>
              <a:t>The project combines implemented workflows, deployment notes, and security guidance into a coherent system story.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455664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77C"/>
                </a:solidFill>
                <a:latin typeface="Aptos"/>
              </a:rPr>
              <a:t>SmartCampus conference deck | deployment and maturity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23D"/>
          </a:solidFill>
          <a:ln>
            <a:solidFill>
              <a:srgbClr val="11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 Display"/>
              </a:rPr>
              <a:t>Closing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1" y="1554480"/>
            <a:ext cx="62587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FFFFFF"/>
                </a:solidFill>
                <a:latin typeface="Aptos Display"/>
              </a:rPr>
              <a:t>SmartCampus</a:t>
            </a:r>
            <a:r>
              <a:rPr b="1" dirty="0">
                <a:solidFill>
                  <a:srgbClr val="FFFFFF"/>
                </a:solidFill>
                <a:latin typeface="Aptos Display"/>
              </a:rPr>
              <a:t> demonstrates how a university can unify academic, operational, and safety workflows into a single role-aware platform.</a:t>
            </a:r>
          </a:p>
          <a:p>
            <a:pPr>
              <a:defRPr sz="1500" b="0">
                <a:solidFill>
                  <a:srgbClr val="DFE7F2"/>
                </a:solidFill>
                <a:latin typeface="Aptos"/>
              </a:defRPr>
            </a:pPr>
            <a:r>
              <a:rPr sz="1200" dirty="0"/>
              <a:t>The strongest conference story is not just the breadth of modules, but the integrity model behind them: token-based access, scoped data visibility, layered attendance verification, and safety workflows that can be audited.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25880"/>
            <a:ext cx="3977639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27000" rtlCol="0" anchor="ctr"/>
          <a:lstStyle/>
          <a:p>
            <a:pPr algn="ctr"/>
            <a:r>
              <a:rPr sz="1800" b="1">
                <a:solidFill>
                  <a:srgbClr val="0B162A"/>
                </a:solidFill>
                <a:latin typeface="Aptos Display"/>
              </a:rPr>
              <a:t>Suggested next steps</a:t>
            </a:r>
          </a:p>
          <a:p>
            <a:pPr>
              <a:defRPr sz="1300" b="0">
                <a:solidFill>
                  <a:srgbClr val="14181F"/>
                </a:solidFill>
                <a:latin typeface="Aptos"/>
              </a:defRPr>
            </a:pPr>
            <a:r>
              <a:t>Trim a few frontend lint issues</a:t>
            </a:r>
          </a:p>
          <a:p>
            <a:pPr>
              <a:defRPr sz="1300" b="0">
                <a:solidFill>
                  <a:srgbClr val="14181F"/>
                </a:solidFill>
                <a:latin typeface="Aptos"/>
              </a:defRPr>
            </a:pPr>
            <a:r>
              <a:t>Split large bundles for better performance</a:t>
            </a:r>
          </a:p>
          <a:p>
            <a:pPr>
              <a:defRPr sz="1300" b="0">
                <a:solidFill>
                  <a:srgbClr val="14181F"/>
                </a:solidFill>
                <a:latin typeface="Aptos"/>
              </a:defRPr>
            </a:pPr>
            <a:r>
              <a:t>Standardize endpoint validation patterns</a:t>
            </a:r>
          </a:p>
          <a:p>
            <a:pPr>
              <a:defRPr sz="1300" b="0">
                <a:solidFill>
                  <a:srgbClr val="14181F"/>
                </a:solidFill>
                <a:latin typeface="Aptos"/>
              </a:defRPr>
            </a:pPr>
            <a:r>
              <a:t>Add a short live demo or screenshot appendix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160520"/>
            <a:ext cx="10698480" cy="1005840"/>
          </a:xfrm>
          <a:prstGeom prst="roundRect">
            <a:avLst/>
          </a:prstGeom>
          <a:solidFill>
            <a:srgbClr val="11223D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01600" rIns="1524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A unified campus platform is most valuable when it makes everyday operations visible, verifiable, and role-aware.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5577840"/>
            <a:ext cx="1645920" cy="320040"/>
          </a:xfrm>
          <a:prstGeom prst="roundRect">
            <a:avLst/>
          </a:prstGeom>
          <a:solidFill>
            <a:srgbClr val="D6AD4A"/>
          </a:solidFill>
          <a:ln>
            <a:solidFill>
              <a:srgbClr val="D6A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162A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1086</Words>
  <Application>Microsoft Office PowerPoint</Application>
  <PresentationFormat>Widescreen</PresentationFormat>
  <Paragraphs>152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SmartCampus Conference Deck</dc:title>
  <dc:subject>Conference presentation generated from SmartCampus project analysis</dc:subject>
  <dc:creator>GitHub Copilot</dc:creator>
  <cp:keywords/>
  <dc:description>generated using python-pptx</dc:description>
  <cp:lastModifiedBy>ratheesh1703@gmail.com</cp:lastModifiedBy>
  <cp:revision>2</cp:revision>
  <dcterms:created xsi:type="dcterms:W3CDTF">2013-01-27T09:14:16Z</dcterms:created>
  <dcterms:modified xsi:type="dcterms:W3CDTF">2026-04-26T02:41:42Z</dcterms:modified>
  <cp:category/>
</cp:coreProperties>
</file>